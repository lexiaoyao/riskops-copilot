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封面：本页讲稿基于 M3 summary、归因结果和 ROI 沙盘拼接。异常总数 7 个，窗口为 2026-03-20~2026-04-18 到 2026-04-19~2026-05-18。目标指标最近值 10.27%，相对变化 -58.20%。外部归因明细 10 条，主因 Top3 为 product_code=P_CONS 贡献度 5.59%；balance_segment=NORMAL 贡献度 5.28%；risk_level=high 贡献度 4.94%。最高 ROI 情景为 提升 AI 外呼覆盖，ROI ratio 36.50。所有结论仅用于 synthetic data 复盘和人工评审，不触发真实催收执行。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经营总览：本页讲稿基于 M3 summary、归因结果和 ROI 沙盘拼接。异常总数 7 个，窗口为 2026-03-20~2026-04-18 到 2026-04-19~2026-05-18。目标指标最近值 10.27%，相对变化 -58.20%。外部归因明细 10 条，主因 Top3 为 product_code=P_CONS 贡献度 5.59%；balance_segment=NORMAL 贡献度 5.28%；risk_level=high 贡献度 4.94%。最高 ROI 情景为 提升 AI 外呼覆盖，ROI ratio 36.50。所有结论仅用于 synthetic data 复盘和人工评审，不触发真实催收执行。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 D7 回收率趋势：本页讲稿基于 M3 summary、归因结果和 ROI 沙盘拼接。异常总数 7 个，窗口为 2026-03-20~2026-04-18 到 2026-04-19~2026-05-18。目标指标最近值 10.27%，相对变化 -58.20%。外部归因明细 10 条，主因 Top3 为 product_code=P_CONS 贡献度 5.59%；balance_segment=NORMAL 贡献度 5.28%；risk_level=high 贡献度 4.94%。最高 ROI 情景为 提升 AI 外呼覆盖，ROI ratio 36.50。所有结论仅用于 synthetic data 复盘和人工评审，不触发真实催收执行。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多维归因瀑布：本页讲稿基于 M3 summary、归因结果和 ROI 沙盘拼接。异常总数 7 个，窗口为 2026-03-20~2026-04-18 到 2026-04-19~2026-05-18。目标指标最近值 10.27%，相对变化 -58.20%。外部归因明细 10 条，主因 Top3 为 product_code=P_CONS 贡献度 5.59%；balance_segment=NORMAL 贡献度 5.28%；risk_level=high 贡献度 4.94%。最高 ROI 情景为 提升 AI 外呼覆盖，ROI ratio 36.50。所有结论仅用于 synthetic data 复盘和人工评审，不触发真实催收执行。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催收过程漏斗：本页讲稿基于 M3 summary、归因结果和 ROI 沙盘拼接。异常总数 7 个，窗口为 2026-03-20~2026-04-18 到 2026-04-19~2026-05-18。目标指标最近值 10.27%，相对变化 -58.20%。外部归因明细 10 条，主因 Top3 为 product_code=P_CONS 贡献度 5.59%；balance_segment=NORMAL 贡献度 5.28%；risk_level=high 贡献度 4.94%。最高 ROI 情景为 提升 AI 外呼覆盖，ROI ratio 36.50。所有结论仅用于 synthetic data 复盘和人工评审，不触发真实催收执行。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供应商线路绩效：本页讲稿基于 M3 summary、归因结果和 ROI 沙盘拼接。异常总数 7 个，窗口为 2026-03-20~2026-04-18 到 2026-04-19~2026-05-18。目标指标最近值 10.27%，相对变化 -58.20%。外部归因明细 10 条，主因 Top3 为 product_code=P_CONS 贡献度 5.59%；balance_segment=NORMAL 贡献度 5.28%；risk_level=high 贡献度 4.94%。最高 ROI 情景为 提升 AI 外呼覆盖，ROI ratio 36.50。所有结论仅用于 synthetic data 复盘和人工评审，不触发真实催收执行。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减免 ROI 与策略沙盘：本页讲稿基于 M3 summary、归因结果和 ROI 沙盘拼接。异常总数 7 个，窗口为 2026-03-20~2026-04-18 到 2026-04-19~2026-05-18。目标指标最近值 10.27%，相对变化 -58.20%。外部归因明细 10 条，主因 Top3 为 product_code=P_CONS 贡献度 5.59%；balance_segment=NORMAL 贡献度 5.28%；risk_level=high 贡献度 4.94%。最高 ROI 情景为 提升 AI 外呼覆盖，ROI ratio 36.50。所有结论仅用于 synthetic data 复盘和人工评审，不触发真实催收执行。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合规质检红线：本页讲稿基于 M3 summary、归因结果和 ROI 沙盘拼接。异常总数 7 个，窗口为 2026-03-20~2026-04-18 到 2026-04-19~2026-05-18。目标指标最近值 10.27%，相对变化 -58.20%。外部归因明细 10 条，主因 Top3 为 product_code=P_CONS 贡献度 5.59%；balance_segment=NORMAL 贡献度 5.28%；risk_level=high 贡献度 4.94%。最高 ROI 情景为 提升 AI 外呼覆盖，ROI ratio 36.50。所有结论仅用于 synthetic data 复盘和人工评审，不触发真实催收执行。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行动清单：本页讲稿基于 M3 summary、归因结果和 ROI 沙盘拼接。异常总数 7 个，窗口为 2026-03-20~2026-04-18 到 2026-04-19~2026-05-18。目标指标最近值 10.27%，相对变化 -58.20%。外部归因明细 10 条，主因 Top3 为 product_code=P_CONS 贡献度 5.59%；balance_segment=NORMAL 贡献度 5.28%；risk_level=high 贡献度 4.94%。最高 ROI 情景为 提升 AI 外呼覆盖，ROI ratio 36.50。所有结论仅用于 synthetic data 复盘和人工评审，不触发真实催收执行。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RiskOps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F1F1F"/>
                </a:solidFill>
              </a:defRPr>
            </a:pPr>
            <a:r>
              <a:t>RiskOps Copilot</a:t>
            </a:r>
          </a:p>
          <a:p>
            <a:pPr>
              <a:spcAft>
                <a:spcPts val="1000"/>
              </a:spcAft>
              <a:defRPr sz="1400" b="1">
                <a:solidFill>
                  <a:srgbClr val="1F1F1F"/>
                </a:solidFill>
              </a:defRPr>
            </a:pPr>
            <a:r>
              <a:t>贷后经营复盘</a:t>
            </a:r>
          </a:p>
          <a:p>
            <a:pPr>
              <a:spcAft>
                <a:spcPts val="1000"/>
              </a:spcAft>
              <a:defRPr sz="1400" b="0">
                <a:solidFill>
                  <a:srgbClr val="1F1F1F"/>
                </a:solidFill>
              </a:defRPr>
            </a:pPr>
            <a:r>
              <a:t>生成时间：2026-05-28T11:39:50+00:00</a:t>
            </a:r>
          </a:p>
          <a:p>
            <a:pPr>
              <a:spcAft>
                <a:spcPts val="1000"/>
              </a:spcAft>
              <a:defRPr sz="1400" b="0">
                <a:solidFill>
                  <a:srgbClr val="1F1F1F"/>
                </a:solidFill>
              </a:defRPr>
            </a:pPr>
            <a:r>
              <a:t>作者：RiskOps Copilot</a:t>
            </a:r>
          </a:p>
          <a:p>
            <a:pPr>
              <a:spcAft>
                <a:spcPts val="1000"/>
              </a:spcAft>
              <a:defRPr sz="1400" b="0">
                <a:solidFill>
                  <a:srgbClr val="1F1F1F"/>
                </a:solidFill>
              </a:defRPr>
            </a:pPr>
            <a:r>
              <a:t>结论：本周复盘聚焦 M1 D7 回收率异常、归因主因、过程漏斗、ROI 和合规边界。</a:t>
            </a:r>
          </a:p>
          <a:p>
            <a:pPr>
              <a:spcAft>
                <a:spcPts val="1000"/>
              </a:spcAft>
              <a:defRPr sz="1400" b="0">
                <a:solidFill>
                  <a:srgbClr val="1F1F1F"/>
                </a:solidFill>
              </a:defRPr>
            </a:pPr>
            <a:r>
              <a:t>建议图表：outputs/visualization/anomaly_severity.html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经营总览：核心 15 指标卡片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863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结论：核心 15 指标卡片显示，经营压力集中在 M1 D7 回收率、归因主因、过程触达和 ROI 校验。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M1 D7 回收率变动幅度：-58.20%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异常数量：7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严重度分布：high=5 / medium=2 / low=0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归因可读主因：5 个，ROI 情景：5 个。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建议图表：outputs/visualization/anomaly_severity.html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结论边界：该结果来自 synthetic data，仅用于 demo 复盘。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M1 D7 回收率趋势 + 异常点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863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结论：M1 D7 回收率是本周主异常，最近窗口明显低于基线窗口，需要进入归因和过程证据联动复核。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基线窗口：2026-03-20~2026-04-18；最近窗口：2026-04-19~2026-05-18。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基线值：24.57%；最近值：10.27%；相对变化：-58.20%。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建议图表：outputs/visualization/driver_contribution.html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异常点：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M1 回收率 / high / -58.20%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接通率 / high / -19.62%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华东线路人均案量 / high / +41.13%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高余额高风险客群占比 / high / +66.68%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AI 外呼覆盖率 / high / -41.32%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多维归因瀑布：主因 Top3 + 贡献度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863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结论：Top3 主因对整体异常有可量化贡献，但跨维度可能重叠，不能直接相加为完整解释比例。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建议图表：outputs/visualization/waterfall.html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渠道：product_code=P_CONS，贡献度 5.59%，动作：继续按该维度下钻到供应商、线路和客群组合，验证是否存在集中异常。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客群：balance_segment=NORMAL，贡献度 5.28%，动作：对该客群单独设定触达、减免和 PTP 跟进策略，不改变指标口径。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客群：risk_level=high，贡献度 4.94%，动作：对该客群单独设定触达、减免和 PTP 跟进策略，不改变指标口径。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催收过程漏斗：覆盖→接通→PTP→履约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863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结论：催收过程漏斗需要同时看覆盖、接通、PTP 和履约，单点指标改善不能替代端到端回收校验。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建议图表：outputs/visualization/collection_funnel.html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接通率：基线 35.71%，最近 41.67%，变化 +5.95%。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AI 外呼覆盖率：基线 21.43%，最近 16.67%，变化 -4.76%。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人工触达占比：基线 78.57%，最近 83.33%，变化 +4.76%。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PTP 履约率：基线 0.00%，最近 0.00%，变化 0.00%。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供应商 / 线路绩效矩阵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863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结论：供应商、线路和区域绩效需要一起看，优先定位执行资源、号码质量和分案压力是否集中。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建议图表：outputs/visualization/vendor_matrix.html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vendor_id=V_B：接通率，变化 -19.62%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region=华东：华东线路人均案量，变化 +41.13%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减免 ROI 与策略沙盘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863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结论：ROI 沙盘只用于比较策略假设，优先看净收益、回收提升和回本周期，不触发真实策略执行。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最高 ROI 情景：提升 AI 外呼覆盖，ROI ratio 36.50。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正 ROI 情景：5 / 5。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建议图表：outputs/visualization/reduction_roi.html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651760"/>
          <a:ext cx="8138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720"/>
                <a:gridCol w="2712720"/>
                <a:gridCol w="2712720"/>
              </a:tblGrid>
              <a:tr h="304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情景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ROI ratio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payback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1F1F"/>
                          </a:solidFill>
                        </a:defRPr>
                      </a:pPr>
                      <a:r>
                        <a:t>提升 AI 外呼覆盖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1F1F"/>
                          </a:solidFill>
                        </a:defRPr>
                      </a:pPr>
                      <a:r>
                        <a:t>36.50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1F1F"/>
                          </a:solidFill>
                        </a:defRPr>
                      </a:pPr>
                      <a:r>
                        <a:t>&lt;1 天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1F1F"/>
                          </a:solidFill>
                        </a:defRPr>
                      </a:pPr>
                      <a:r>
                        <a:t>补充人工催收产能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1F1F"/>
                          </a:solidFill>
                        </a:defRPr>
                      </a:pPr>
                      <a:r>
                        <a:t>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1F1F"/>
                          </a:solidFill>
                        </a:defRPr>
                      </a:pPr>
                      <a:r>
                        <a:t>12.0 天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1F1F"/>
                          </a:solidFill>
                        </a:defRPr>
                      </a:pPr>
                      <a:r>
                        <a:t>调整减免使用策略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1F1F"/>
                          </a:solidFill>
                        </a:defRPr>
                      </a:pPr>
                      <a:r>
                        <a:t>5.67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1F1F"/>
                          </a:solidFill>
                        </a:defRPr>
                      </a:pPr>
                      <a:r>
                        <a:t>4.5 天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1F1F"/>
                          </a:solidFill>
                        </a:defRPr>
                      </a:pPr>
                      <a:r>
                        <a:t>供应商与作业线资源再分配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1F1F"/>
                          </a:solidFill>
                        </a:defRPr>
                      </a:pPr>
                      <a:r>
                        <a:t>7.33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1F1F"/>
                          </a:solidFill>
                        </a:defRPr>
                      </a:pPr>
                      <a:r>
                        <a:t>3.6 天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1F1F"/>
                          </a:solidFill>
                        </a:defRPr>
                      </a:pPr>
                      <a:r>
                        <a:t>D 分客群优先跟进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1F1F"/>
                          </a:solidFill>
                        </a:defRPr>
                      </a:pPr>
                      <a:r>
                        <a:t>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1F1F"/>
                          </a:solidFill>
                        </a:defRPr>
                      </a:pPr>
                      <a:r>
                        <a:t>6.0 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合规质检红线 + 投诉风险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863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结论：合规质检是策略动作前置红线，报告只给人工复核线索，不读取或输出 P3/P4 字段。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建议图表：outputs/visualization/complaint_risk.html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边界：synthetic data only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边界：demo cost assumptions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边界：no real customer data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边界：no real financial 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行动清单：短期 / 中期 / 长期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863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结论：行动清单按短期验证、中期策略沙盘、长期治理闭环推进，全部动作进入人工评审。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建议图表：outputs/visualization/roi_comparison.html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短期：继续按该维度下钻到供应商、线路和客群组合，验证是否存在集中异常。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中期：对该客群单独设定触达、减免和 PTP 跟进策略，不改变指标口径。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</a:defRPr>
            </a:pPr>
            <a:r>
              <a:t>长期：沉淀周报模板、指标血缘和合规质检证据链，支持管理层稳定复盘。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